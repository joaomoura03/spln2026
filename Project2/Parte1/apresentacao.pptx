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TP2 · SPLN 2025/26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Information Retrieval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788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Question Answering sobre a Wikipedia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3931920"/>
            <a:ext cx="7315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1148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Moura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45262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do Minho · Mestrado em Engenharia Informática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892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 de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Moura · SPLN 2025/26 · TP2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uma pipeline que responda a perguntas em linguagem natural sobre os países do mundo, combinando retrieval de informação e question answering.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45820" y="274320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5820" y="29260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5820" y="32918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 países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68980" y="2743200"/>
            <a:ext cx="228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543300" y="274320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3300" y="29260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43300" y="32918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sBERT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híbrido (RRF)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66460" y="2743200"/>
            <a:ext cx="228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40780" y="274320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40780" y="29260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40780" y="32918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Extractivo + Abstractivo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63940" y="2743200"/>
            <a:ext cx="228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8938260" y="274320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38260" y="29260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57200" y="45720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 do enunciado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892040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892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0120" y="4892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≥ 100 documentos sobre tema à escolha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5303520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303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60120" y="5303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retriever (léxico, semântico ou híbrido)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5715000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5715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60120" y="57150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extractivo (fine-tuning SQuAD) + QA abstractivo (prompting LLM)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Moura · SPLN 2025/26 · TP2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e processo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6858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Artigos Wikipedia (EN) de 196 países — 193 Estados-membros da ONU + observers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wikipedia-api (User-Agent próprio, conforme política Wikipedia)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Filtros: See also, References, External links, Notes, Further reading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manual para títulos ambíguos (Georgia → país, não estado dos EUA)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em disco — retomar em caso de interrupção sem repetir pedidos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80960" y="128016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0" y="141732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7680960" y="20574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países descarregados (de 196)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80960" y="260604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0" y="274320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8 919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680960" y="33832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após processamento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680960" y="393192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0" y="406908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680960" y="47091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língua do corpus (inglês)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55778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oferece artigos com estrutura uniforme e cobertura factual ampla — ideal para perguntas geográficas, demográficas, históricas.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Pré-processamento e Chunking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Moura · SPLN 2025/26 · TP2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Porquê chunking?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Artigos têm dezenas de milhares de caracteres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limita o contexto a 512 tokens — passagens menores funcionam melhor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 recupera melhor sobre passagens curtas e tematicamente coerentes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5486400" cy="2377440"/>
          </a:xfrm>
          <a:prstGeom prst="roundRect">
            <a:avLst>
              <a:gd name="adj" fmla="val 384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246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Estratégia: parágrafos naturais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3657600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por \n\n (parágrafos)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 &lt; 30 palavras (lixo: títulos, frases soltas)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corpus.json com {id, country, text}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3108960"/>
            <a:ext cx="5394960" cy="23774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3246120"/>
            <a:ext cx="51206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chunk_article(text, min_words=30):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paragraphs = [p.strip()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for p in text.split("\n\n")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if p.strip()]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[p for p in paragraphs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len(p.split()) &gt;= min_words]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56692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justificadas: (i) preserva coerência semântica do parágrafo (um tópico por chunk); (ii) implementação simples e reprodutível, sem hiperparâmetros sensíveis a tunar.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 Híbrido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Moura · SPLN 2025/26 · TP2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3657600" cy="8229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Léxico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3657600" cy="3017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240280"/>
            <a:ext cx="3291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Generalização do TF-IDF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forte e clássica em IR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rank-bm25 (BM25Okapi)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Tokenização: lowercase + \w+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stopwords (IDF compensa)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51960" y="1325880"/>
            <a:ext cx="365760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5196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Sentence-BERT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25196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Semântico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51960" y="2148840"/>
            <a:ext cx="3657600" cy="3017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2240280"/>
            <a:ext cx="3291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densos (384 dim)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multi-qa-MiniLM-L6-cos-v1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Treinado para QA retrieval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Similaridade cosseno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em cache (.npy)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46720" y="1325880"/>
            <a:ext cx="3657600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Híbrido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04672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Reciprocal Rank Fusion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46720" y="2148840"/>
            <a:ext cx="3657600" cy="3017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0" y="2240280"/>
            <a:ext cx="3291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rankings, não scores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60 (constante padrão)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escalas diferentes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robusto na maioria dos casos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5349240"/>
            <a:ext cx="11247120" cy="868680"/>
          </a:xfrm>
          <a:prstGeom prst="roundRect">
            <a:avLst>
              <a:gd name="adj" fmla="val 526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5349240"/>
            <a:ext cx="11247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RRF(d) = Σ  1 / (k + rank_r(d))    com    R = { BM25, sBERT }    e    k = 60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 — Análise Comparativa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Moura · SPLN 2025/26 · TP2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queries-teste, cada uma revela um padrão diferente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4712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2468880"/>
                <a:gridCol w="2697480"/>
                <a:gridCol w="2697480"/>
              </a:tblGrid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Query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BM25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Semantic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Hybrid (RRF)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Q1: Capital de Portugal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(factoide, keyword óbvia)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</a:rPr>
                        <a:t>Neanderthals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Lisbon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Lisbon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Q2: Fronteiras do Brasil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(relacional)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</a:rPr>
                        <a:t>Uruguai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Brasil (com lista)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580C"/>
                          </a:solidFill>
                        </a:rPr>
                        <a:t>≈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A580C"/>
                          </a:solidFill>
                        </a:rPr>
                        <a:t>Uruguai (RRF perde)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Q3: Quando reunificou a Alemanha?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(paráfrase: reunify ≠ reunification)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</a:rPr>
                        <a:t>Camarões, Luxemburgo, M. Is.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Germany (3/3)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Germany (top-1 recupera)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4572000"/>
            <a:ext cx="11247120" cy="1691640"/>
          </a:xfrm>
          <a:prstGeom prst="roundRect">
            <a:avLst>
              <a:gd name="adj" fmla="val 432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4663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77240" y="5148072"/>
            <a:ext cx="91440" cy="914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05840" y="5029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ganha em keywords exatas, mas é enganado por alta frequência em contextos errados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77240" y="5513832"/>
            <a:ext cx="91440" cy="914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5840" y="53949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Sentence-BERT: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superior em paráfrases e queries relacionais — entende o significado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77240" y="587959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05840" y="57607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Híbrido (RRF):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robusto na maioria dos casos, mas em Q2 piora o semantic isolado (favorece o consenso entre rankings)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Extractivo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Moura · SPLN 2025/26 · TP2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Devolve uma span do contexto que constitui a resposta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645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&amp; Fine-Tuning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2057400"/>
            <a:ext cx="5486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distilbert-base-uncased — 40% menor, 60% mais rápido que BERT, ~97% do desempenho downstream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no SQuAD v1.1 (Rajpurkar et al. 2016)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Subset: 20k train · 500 eval (≈30 min em T4 GPU)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lr=3e-5 · batch=16 · 2 épocas · fp16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0" y="1645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(SQuAD val, 500 ex)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2103120"/>
            <a:ext cx="256032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22402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69.80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217920" y="2880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61120" y="2103120"/>
            <a:ext cx="256032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0" y="22402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78.52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8961120" y="2880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3474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(literatura: full SQuAD ≈ EM 77 · F1 85)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389120"/>
            <a:ext cx="1124712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480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o retriever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48920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hybrid_search → top-3 chunks    </a:t>
            </a:r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DistilBERT extrai span de cada    </a:t>
            </a:r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escolher max(qa_score)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5440680"/>
            <a:ext cx="11247120" cy="777240"/>
          </a:xfrm>
          <a:prstGeom prst="roundRect">
            <a:avLst>
              <a:gd name="adj" fmla="val 5882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544068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Limitação: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extractivo não tem mecanismo de abstenção — devolve sempre alguma span, mesmo quando o contexto não responde à pergunta.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Abstractivo — RAG com FLAN-T5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Moura · SPLN 2025/26 · TP2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Generation: o retriever alimenta o modelo generativo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google/flan-t5-base — 250M parâmetros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 instruction-tuned do T5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Treinado em 1800+ tarefas formuladas como instruções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zero-shot robusta com prompt bem estruturado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023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Diferenciadores vs. extractivo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38912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parafrasear e sintetizar várias fontes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auto-detectar "unanswerable"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de filtragem: respostas-lixo → "(no clean answer)"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691640"/>
            <a:ext cx="5486400" cy="45262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783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2194560"/>
            <a:ext cx="51206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the context below and answer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question concisely.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Article about Portugal: &lt;chunk text...&gt;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Article about Brazil: &lt;chunk text...&gt;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Article about Germany: &lt;chunk text...&gt;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Question: &lt;user query&gt;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Answer: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Extractivo vs. Abstractivo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Moura · SPLN 2025/26 · TP2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3017520"/>
                <a:gridCol w="3017520"/>
                <a:gridCol w="128016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Query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Extractivo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Abstractivo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Categoria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Capital de Portugal?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Lisbon 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</a:rPr>
                        <a:t>(no clean answer)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</a:rPr>
                        <a:t>Factoide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Língua oficial de Itália?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Italian 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</a:rPr>
                        <a:t>(no clean answer)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</a:rPr>
                        <a:t>Factoide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População da Islândia?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</a:rPr>
                        <a:t>two million ✗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</a:rPr>
                        <a:t>(no clean answer)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</a:rPr>
                        <a:t>Numérico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Fronteiras do Brasil?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EA580C"/>
                          </a:solidFill>
                        </a:rPr>
                        <a:t>Uruguay (parcial)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</a:rPr>
                        <a:t>Uruguay to the south ✓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</a:rPr>
                        <a:t>Relacional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Independência da Índia?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1947 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i="1" dirty="0">
                          <a:solidFill>
                            <a:srgbClr val="16A34A"/>
                          </a:solidFill>
                        </a:rPr>
                        <a:t>unanswerable ✓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</a:rPr>
                        <a:t>Histórico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Reunificação da Alemanha?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</a:rPr>
                        <a:t>World War II ✗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</a:rPr>
                        <a:t>(no clean answer)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</a:rPr>
                        <a:t>Paráfrase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Moeda usada em França?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the euro 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</a:rPr>
                        <a:t>franc. ✗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</a:rPr>
                        <a:t>Paráfrase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Vencedor do Mundial 2026?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</a:rPr>
                        <a:t>Qatar ✗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i="1" dirty="0">
                          <a:solidFill>
                            <a:srgbClr val="16A34A"/>
                          </a:solidFill>
                        </a:rPr>
                        <a:t>(no clean answer) ✓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i="1" dirty="0">
                          <a:solidFill>
                            <a:srgbClr val="F59E0B"/>
                          </a:solidFill>
                        </a:rPr>
                        <a:t>Armadilha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5852160"/>
            <a:ext cx="11247120" cy="594360"/>
          </a:xfrm>
          <a:prstGeom prst="roundRect">
            <a:avLst>
              <a:gd name="adj" fmla="val 7692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585216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Insight-chave: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limpeza profunda do corpus + camada de filtragem, o sistema distingue claramente "resposta" de "não consegui responder" — incluindo na pergunta-armadilha. Abstenção por engenharia, não por capacidade emergente.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Moura · SPLN 2025/26 · TP2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6355080"/>
            <a:ext cx="1216152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Moura · SPLN 2025/26 · TP2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548640"/>
            <a:ext cx="7315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280160" y="18288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Retriever: semântico &gt; léxico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22402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Sentence-BERT é claramente superior em paráfrases e queries relacionais. BM25 mantém-se útil para entidades nomeadas raras. RRF híbrido é robusto, mas nem sempre supera o semântico isolado.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154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280160" y="31546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Extractivo e abstractivo são complementares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356616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Extractivo: precisão em factoides, datas, nomes próprios literais. Abstractivo: flexibilidade em perguntas relacionais e paráfrases, e — crucialmente — pode abster-se quando não sabe.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48056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480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280160" y="44805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 + QA = sinergia genuína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80160" y="489204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 maximiza recall (passa candidatos prováveis); QA maximiza precision (escolhe a melhor resposta dentro deles). Separação de responsabilidades torna a arquitetura robusta.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TP2 — Pipeline IR + QA</dc:title>
  <dc:subject>PptxGenJS Presentation</dc:subject>
  <dc:creator>João Moura</dc:creator>
  <cp:lastModifiedBy>João Moura</cp:lastModifiedBy>
  <cp:revision>1</cp:revision>
  <dcterms:created xsi:type="dcterms:W3CDTF">2026-05-25T13:54:01Z</dcterms:created>
  <dcterms:modified xsi:type="dcterms:W3CDTF">2026-05-25T13:54:01Z</dcterms:modified>
</cp:coreProperties>
</file>