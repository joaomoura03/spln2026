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73152" cy="4114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CIENTÍFICO  ·  GRUPO DE LEITURA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Language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&amp; Reasoning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Christopher D. Manning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Dædalus, 151(2): 127–138 · Spring 2022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5440680"/>
            <a:ext cx="320040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Scripting no Processamento de Linguagem Natural · 2025/26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01 ·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o autor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846320" cy="42062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91440" cy="4206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D. MANNING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M. Siebel Prof. de Machine Learning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de Linguística e de Ciência de Computadores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438912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233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do SAIL</a:t>
            </a:r>
            <a:endParaRPr lang="en-US" sz="1200" dirty="0"/>
          </a:p>
          <a:p>
            <a:pPr lvl="1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(Stanford AI Lab)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Ex-presidente da ACL</a:t>
            </a:r>
            <a:endParaRPr lang="en-US" sz="1200" dirty="0"/>
          </a:p>
          <a:p>
            <a:pPr lvl="1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(Association for Computational Linguistics)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de Foundations of Statistical NLP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Porquê este ensaio?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2606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paper experimental — é um ensaio reflexivo publicado na Dædalus, a revista da Academia Americana de Artes e Ciências.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faz três coisas: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39776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 a história do NLP em quatro eras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o que mudou em 2018 (self-supervised learning)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Discute se estes modelos compreendem mesmo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02 · TESE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ideia central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1645920" y="19202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última década produziu avanços dramáticos e surpreendentes no NLP através de redes neuronais simples, replicadas em larga escala e treinadas com enormes quantidades de dados.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33832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E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pré-treinados como BERT e GPT-3 mostram os primeiros indícios de uma forma mais geral de inteligência artificial — os foundation models.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3383280" cy="100584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5029200"/>
            <a:ext cx="91440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440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enormes, treino em biliões de palavras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5029200"/>
            <a:ext cx="3383280" cy="100584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5029200"/>
            <a:ext cx="91440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AUTO-SUPERVISÃO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5440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sem rótulos, a partir do próprio texto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5029200"/>
            <a:ext cx="3383280" cy="100584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5029200"/>
            <a:ext cx="91440" cy="1005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5440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modelo, muitas tarefas — via prompting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03 · HISTÓRIA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quatro eras do NLP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10332720" cy="0"/>
          </a:xfrm>
          <a:prstGeom prst="line">
            <a:avLst/>
          </a:prstGeom>
          <a:noFill/>
          <a:ln w="25400">
            <a:solidFill>
              <a:srgbClr val="2D35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3035808"/>
            <a:ext cx="329184" cy="329184"/>
          </a:xfrm>
          <a:prstGeom prst="ellipse">
            <a:avLst/>
          </a:prstGeom>
          <a:solidFill>
            <a:srgbClr val="5A6178"/>
          </a:solidFill>
          <a:ln w="38100">
            <a:solidFill>
              <a:srgbClr val="FAFA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1950–69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Tradução automática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Dicionários + regras morfológicas.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nada se sabia sobre a estrutura da língua.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3035808"/>
            <a:ext cx="329184" cy="329184"/>
          </a:xfrm>
          <a:prstGeom prst="ellipse">
            <a:avLst/>
          </a:prstGeom>
          <a:solidFill>
            <a:srgbClr val="2D3561"/>
          </a:solidFill>
          <a:ln w="38100">
            <a:solidFill>
              <a:srgbClr val="FAFA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1970–92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Sistemas baseados em regras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SHRDLU, LUNAR, SAM, LIFER, GUS.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feito à mão.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3035808"/>
            <a:ext cx="329184" cy="329184"/>
          </a:xfrm>
          <a:prstGeom prst="ellipse">
            <a:avLst/>
          </a:prstGeom>
          <a:solidFill>
            <a:srgbClr val="F0A500"/>
          </a:solidFill>
          <a:ln w="38100">
            <a:solidFill>
              <a:srgbClr val="FAFA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1993–2012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Viragem empírica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estatístico sobre corpora.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Treebanks e aprendizagem supervisionada.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149840" y="3035808"/>
            <a:ext cx="329184" cy="329184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AFA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2013–...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+ auto-supervisão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→ Transformer → BERT/GPT.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era em que vivemos.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669280"/>
            <a:ext cx="10881360" cy="777240"/>
          </a:xfrm>
          <a:prstGeom prst="rect">
            <a:avLst/>
          </a:prstGeom>
          <a:solidFill>
            <a:srgbClr val="E8EC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669280"/>
            <a:ext cx="91440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7790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argumento de Manning:  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retrospetiva, a verdadeira ruptura não foi o deep learning (2013) — foi a </a:t>
            </a:r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auto-supervisão em larga escala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partir de 2018).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04 · MUDANÇA DE PARADIGMA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2018: o ponto de inflexão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mudou, de facto?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(até 2018)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Aprendizagem supervisionada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anotados à mão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por tarefa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complexas (POS → parse → ...)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generalizar entre domínios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3657600"/>
            <a:ext cx="548640" cy="731520"/>
          </a:xfrm>
          <a:prstGeom prst="rightArrow">
            <a:avLst/>
          </a:prstGeom>
          <a:solidFill>
            <a:srgbClr val="E94560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194560"/>
            <a:ext cx="5074920" cy="36576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(2018 →)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Auto-supervisão massiva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20840" y="33375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cru — biliões de palavras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gigante, muitas tarefas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ou prompting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geral emergente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auto-supervisão?  </a:t>
            </a:r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gera os seus próprios desafios — prever a próxima palavra ou preencher uma palavra mascarada — e aprende com os seus erros, biliões de vezes.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05 · 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 &amp; atenção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artigo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83080" y="2057400"/>
            <a:ext cx="1737360" cy="6400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118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palavra predita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697480"/>
            <a:ext cx="0" cy="45720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246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2D35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× camadas transformer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 +  feed-forward  +  normalização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4160520"/>
            <a:ext cx="0" cy="45720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709160"/>
            <a:ext cx="960120" cy="5029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091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47672" y="4709160"/>
            <a:ext cx="960120" cy="5029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6" name="Text 14"/>
          <p:cNvSpPr/>
          <p:nvPr/>
        </p:nvSpPr>
        <p:spPr>
          <a:xfrm>
            <a:off x="1947672" y="47091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26664" y="4709160"/>
            <a:ext cx="96012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3026664" y="47091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05656" y="4709160"/>
            <a:ext cx="960120" cy="5029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05656" y="47091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84648" y="4709160"/>
            <a:ext cx="960120" cy="5029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2" name="Text 20"/>
          <p:cNvSpPr/>
          <p:nvPr/>
        </p:nvSpPr>
        <p:spPr>
          <a:xfrm>
            <a:off x="5184648" y="47091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com palavra mascarada → modelo prevê o que falta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554480"/>
            <a:ext cx="4937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554480"/>
            <a:ext cx="91440" cy="4572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mecânica essencial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219456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cada palavra calcula uma query, uma key e um value.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é comparada com as keys de todas as outras posições para decidir </a:t>
            </a:r>
            <a:pPr indent="0" marL="0">
              <a:buNone/>
            </a:pPr>
            <a:r>
              <a:rPr lang="en-US" sz="130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peso dar a cada uma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ponderada dos values → nova representação da palavra.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em várias camadas. Repetir biliões de vezes em treino.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06 · APLICAÇÕES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isto já está a funcionar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Tradução automática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109728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118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passou a transformer em 2020 — um único modelo treinado simultaneamente em todas as línguas, com um token a indicar a língua de entrada.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5486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próxima do humano em muitos pares.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8006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Answering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800600" y="3429000"/>
            <a:ext cx="109728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6118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UnifiedQA: um único modelo lida com vários formatos de pergunta (extractivo, abstractivo, múltipla escolha) — sem treino específico para cada um.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5486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o paradigma da Parte 1 do nosso TP2.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69164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73252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Sumarização clínica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732520" y="3429000"/>
            <a:ext cx="109728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36118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a 'impressão' de um relatório de radiologia a partir das observações detalhadas — com foco em correcção factual, não só fluência.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32520" y="5486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de alto risco já estão a ser tocados.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07 · O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91440" cy="1463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(proposta por Bommasani et al., 2021)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com milhões de parâmetros, treinados em enormes quantidades de dados via auto-supervisão, que podem ser facilmente adaptados a uma vasta gama de tarefas downstream.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de expansão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3566160" cy="21031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931920"/>
            <a:ext cx="356616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Linguagem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GPT-3 e descendentes — a base já estabelecida.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3931920"/>
            <a:ext cx="3566160" cy="21031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3931920"/>
            <a:ext cx="356616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09160" y="46634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e afins — texto + imagem aprendidos em conjunto.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3931920"/>
            <a:ext cx="3566160" cy="21031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3931920"/>
            <a:ext cx="3566160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Outros domínios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49640" y="46634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Visão, robótica, bioinformática, knowledge graphs.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08 · O DEBATE FILOSÓFICO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Mas... entendem mesmo?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visões opostas sobre o significado nos modelos de linguagem.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440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CÉPTICOS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Bender &amp; Koller (2020)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 denotacional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significado é a referência ao mundo — objectos, situações, factos.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“Os modelos só vêem texto. Sem ligação a referentes externos, não há verdadeira compreensão — só padrões distribucionais.”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303520" cy="39319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Significado como rede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 relacional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significado emerge da rede densa de conexões — entre palavras, entre palavras e objectos, entre palavras e outros usos.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5262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 significado não é tudo-ou-nada. Se um modelo tem uma rede rica de conexões, então tem alguma compreensão real — incompleta, mas genuína.”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09 · O OUTRO LADO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Limitações e riscos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não é evangelizador — fecha o ensaio com cautelas claras.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Concentração de poder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algumas organizações têm recursos para treinar foundation models — influência desproporcional sobre quem fica dependente.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19456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Biases herdados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usa, herda os preconceitos do corpus de treino. Difícil auditar quando os dados são tão volumosos.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0624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89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 opaca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8920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consegue saber facilmente se um modelo é seguro num contexto específico — os modelos são demasiado grandes para serem inspeccionados.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420624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420624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389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Raciocínio limitado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8920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os melhores modelos ainda carecem da capacidade humana de raciocínio lógico e causal cuidadoso.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 · TP2 · Grupo de Leitura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(2022)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10 ·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três frases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783080" y="1828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história do NLP teve quatro eras — e a quarta ainda está a começar.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24231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verdadeira ruptura foi a auto-supervisão massiva (2018), não o deep learning em si.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783080" y="3154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models são a forma como teremos os primeiros vislumbres de IA mais geral.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37490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modelo, treinado uma vez, adaptado a inúmeras tarefas — inclusive multimodais.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783080" y="44805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"compreensão" continua a ser um conceito disputado — e o raciocínio é o calcanhar de Aquiles.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5074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modelos sabem muito; ainda raciocinam pouco. E os riscos sociais são reais.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 — abertos a discussão.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Language Understanding &amp; Reasoning — Manning (2022)</dc:title>
  <dc:subject>PptxGenJS Presentation</dc:subject>
  <dc:creator>Susana</dc:creator>
  <cp:lastModifiedBy>Susana</cp:lastModifiedBy>
  <cp:revision>1</cp:revision>
  <dcterms:created xsi:type="dcterms:W3CDTF">2026-05-15T16:26:32Z</dcterms:created>
  <dcterms:modified xsi:type="dcterms:W3CDTF">2026-05-15T16:26:32Z</dcterms:modified>
</cp:coreProperties>
</file>