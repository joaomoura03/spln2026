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PT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pt-P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291717A-B7AF-414F-8124-7C50E9F226A6}" type="slidenum"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17087D-DCC0-4C6E-9A03-9210842E57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8BF3E8-74BB-4CBF-9162-A525D42945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E39C5B-916B-4D5E-B150-BF2247C152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CEACC9-4E89-4E71-A032-F841CF3EE9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384D16-9C60-4DDB-846F-21605A43D4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ABB5E5-800B-462B-9DB5-90F56DFB962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F29DD6-5F3A-4D47-8AE1-0904D7CADF6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144CDF-64CD-479D-8A36-44A87F8C573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CDBE05-1F16-4D89-B5EE-109E1546F2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539AAD-D3CB-4C87-A1B8-E4F954DD48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3A96D9-EB40-45BB-BED5-F6EB0C059D7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PT" sz="44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pt-PT" sz="44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pt-P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40080" y="1188720"/>
            <a:ext cx="72360" cy="411408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914400" y="118872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395" strike="noStrike">
                <a:solidFill>
                  <a:srgbClr val="f0a500"/>
                </a:solidFill>
                <a:latin typeface="Calibri"/>
                <a:ea typeface="Calibri"/>
              </a:rPr>
              <a:t>ARTIGO CIENTÍFICO  ·  GRUPO DE LEITURA</a:t>
            </a:r>
            <a:endParaRPr b="0" lang="pt-P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914400" y="1691640"/>
            <a:ext cx="1051488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Human Language</a:t>
            </a:r>
            <a:endParaRPr b="0" lang="pt-PT" sz="4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Understanding &amp; Reasoning</a:t>
            </a:r>
            <a:endParaRPr b="0" lang="pt-PT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914400" y="4434840"/>
            <a:ext cx="10057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e8ecf7"/>
                </a:solidFill>
                <a:latin typeface="Georgia"/>
                <a:ea typeface="Georgia"/>
              </a:rPr>
              <a:t>Christopher D. Manning</a:t>
            </a:r>
            <a:endParaRPr b="0" lang="pt-PT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914400" y="489204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a6178"/>
                </a:solidFill>
                <a:latin typeface="Calibri"/>
                <a:ea typeface="Calibri"/>
              </a:rPr>
              <a:t>Dædalus, 151(2): 127–138 · Spring 2022</a:t>
            </a: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914400" y="5440680"/>
            <a:ext cx="3200400" cy="360"/>
          </a:xfrm>
          <a:prstGeom prst="line">
            <a:avLst/>
          </a:prstGeom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914400" y="566928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a6178"/>
                </a:solidFill>
                <a:latin typeface="Calibri"/>
                <a:ea typeface="Calibri"/>
              </a:rPr>
              <a:t>Apresentado por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João Moura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914400" y="598932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a6178"/>
                </a:solidFill>
                <a:latin typeface="Calibri"/>
                <a:ea typeface="Calibri"/>
              </a:rPr>
              <a:t>SPLN · Scripting no Processamento de Linguagem Natural · 2025/26</a:t>
            </a:r>
            <a:endParaRPr b="0" lang="pt-P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640080" y="4572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e94560"/>
                </a:solidFill>
                <a:latin typeface="Calibri"/>
                <a:ea typeface="Calibri"/>
              </a:rPr>
              <a:t>§ 01 · CONTEXTO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640080" y="77724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600" spc="-1" strike="noStrike">
                <a:solidFill>
                  <a:srgbClr val="1a1f36"/>
                </a:solidFill>
                <a:latin typeface="Georgia"/>
                <a:ea typeface="Georgia"/>
              </a:rPr>
              <a:t>Sobre o autor</a:t>
            </a:r>
            <a:endParaRPr b="0" lang="pt-PT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640080" y="1783080"/>
            <a:ext cx="4845600" cy="4205520"/>
          </a:xfrm>
          <a:prstGeom prst="rect">
            <a:avLst/>
          </a:prstGeom>
          <a:solidFill>
            <a:srgbClr val="0f1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640080" y="1783080"/>
            <a:ext cx="90720" cy="4205520"/>
          </a:xfrm>
          <a:prstGeom prst="rect">
            <a:avLst/>
          </a:prstGeom>
          <a:solidFill>
            <a:srgbClr val="f0a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914400" y="2011680"/>
            <a:ext cx="438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7" strike="noStrike">
                <a:solidFill>
                  <a:srgbClr val="f0a500"/>
                </a:solidFill>
                <a:latin typeface="Calibri"/>
                <a:ea typeface="Calibri"/>
              </a:rPr>
              <a:t>CHRISTOPHER D. MANNING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914400" y="2423160"/>
            <a:ext cx="43884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Stanford University</a:t>
            </a: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e8ecf7"/>
                </a:solidFill>
                <a:latin typeface="Calibri"/>
                <a:ea typeface="Calibri"/>
              </a:rPr>
              <a:t>Thomas M. Siebel Prof. de Machine Learning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e8ecf7"/>
                </a:solidFill>
                <a:latin typeface="Calibri"/>
                <a:ea typeface="Calibri"/>
              </a:rPr>
              <a:t>Prof. de Linguística e de Ciência de Computadores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914400" y="3886200"/>
            <a:ext cx="4389120" cy="360"/>
          </a:xfrm>
          <a:prstGeom prst="line">
            <a:avLst/>
          </a:prstGeom>
          <a:ln w="1270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914400" y="4023360"/>
            <a:ext cx="438840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e8ecf7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e8ecf7"/>
                </a:solidFill>
                <a:latin typeface="Calibri"/>
                <a:ea typeface="Calibri"/>
              </a:rPr>
              <a:t>Director do SAIL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(Stanford AI Lab)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cf7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e8ecf7"/>
                </a:solidFill>
                <a:latin typeface="Calibri"/>
                <a:ea typeface="Calibri"/>
              </a:rPr>
              <a:t>Ex-presidente da ACL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(Association for Computational Linguistics)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8ecf7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e8ecf7"/>
                </a:solidFill>
                <a:latin typeface="Calibri"/>
                <a:ea typeface="Calibri"/>
              </a:rPr>
              <a:t>Autor de Foundations of Statistical NLP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6035040" y="201168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200" spc="-1" strike="noStrike">
                <a:solidFill>
                  <a:srgbClr val="1a1f36"/>
                </a:solidFill>
                <a:latin typeface="Georgia"/>
                <a:ea typeface="Georgia"/>
              </a:rPr>
              <a:t>Porquê este ensaio?</a:t>
            </a:r>
            <a:endParaRPr b="0" lang="pt-PT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6035040" y="2606040"/>
            <a:ext cx="5485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f36"/>
                </a:solidFill>
                <a:latin typeface="Calibri"/>
                <a:ea typeface="Calibri"/>
              </a:rPr>
              <a:t>Não é um paper experimental — é um ensaio reflexivo publicado na Dædalus, a revista da Academia Americana de Artes e Ciências.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6035040" y="361188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1f36"/>
                </a:solidFill>
                <a:latin typeface="Calibri"/>
                <a:ea typeface="Calibri"/>
              </a:rPr>
              <a:t>Manning faz três coisas: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6035040" y="3977640"/>
            <a:ext cx="54856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f36"/>
              </a:buClr>
              <a:buFont typeface="Calibri Light"/>
              <a:buAutoNum type="arabicPeriod"/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Traça a história do NLP em quatro eras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f36"/>
              </a:buClr>
              <a:buFont typeface="Calibri Light"/>
              <a:buAutoNum type="arabicPeriod"/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Explica o que mudou em 2018 (self-supervised learning)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a1f36"/>
              </a:buClr>
              <a:buFont typeface="Calibri Light"/>
              <a:buAutoNum type="arabicPeriod"/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Discute se estes modelos compreendem mesmo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457200" y="64922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SPLN · TP2 · Grupo de Leitura    |    </a:t>
            </a:r>
            <a:r>
              <a:rPr b="0" i="1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Manning (2022)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11064240" y="649224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2 / 11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640080" y="4572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f0a500"/>
                </a:solidFill>
                <a:latin typeface="Calibri"/>
                <a:ea typeface="Calibri"/>
              </a:rPr>
              <a:t>§ 02 · TESE</a:t>
            </a:r>
            <a:endParaRPr b="0" lang="pt-P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640080" y="77724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600" spc="-1" strike="noStrike">
                <a:solidFill>
                  <a:srgbClr val="ffffff"/>
                </a:solidFill>
                <a:latin typeface="Georgia"/>
                <a:ea typeface="Georgia"/>
              </a:rPr>
              <a:t>A ideia central</a:t>
            </a:r>
            <a:endParaRPr b="0" lang="pt-PT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548640" y="1645920"/>
            <a:ext cx="13708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0" spc="-1" strike="noStrike">
                <a:solidFill>
                  <a:srgbClr val="e94560"/>
                </a:solidFill>
                <a:latin typeface="Georgia"/>
                <a:ea typeface="Georgia"/>
              </a:rPr>
              <a:t>“</a:t>
            </a:r>
            <a:endParaRPr b="0" lang="pt-PT" sz="1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1645920" y="1920240"/>
            <a:ext cx="98748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A última década produziu avanços dramáticos e surpreendentes no NLP através de redes neuronais simples, replicadas em larga escala e treinadas com enormes quantidades de dados.</a:t>
            </a:r>
            <a:endParaRPr b="0" lang="pt-PT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1645920" y="3383280"/>
            <a:ext cx="987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900" spc="-1" strike="noStrike">
                <a:solidFill>
                  <a:srgbClr val="e8ecf7"/>
                </a:solidFill>
                <a:latin typeface="Georgia"/>
                <a:ea typeface="Georgia"/>
              </a:rPr>
              <a:t>Modelos pré-treinados como BERT e GPT-3 mostram os primeiros indícios de uma forma mais geral de inteligência artificial — os foundation models.</a:t>
            </a:r>
            <a:endParaRPr b="0" lang="pt-PT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5"/>
          <p:cNvSpPr/>
          <p:nvPr/>
        </p:nvSpPr>
        <p:spPr>
          <a:xfrm>
            <a:off x="640080" y="5029200"/>
            <a:ext cx="3382560" cy="1005120"/>
          </a:xfrm>
          <a:prstGeom prst="rect">
            <a:avLst/>
          </a:prstGeom>
          <a:solidFill>
            <a:srgbClr val="2d35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6"/>
          <p:cNvSpPr/>
          <p:nvPr/>
        </p:nvSpPr>
        <p:spPr>
          <a:xfrm>
            <a:off x="640080" y="5029200"/>
            <a:ext cx="90720" cy="100512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868680" y="512064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7" strike="noStrike">
                <a:solidFill>
                  <a:srgbClr val="e94560"/>
                </a:solidFill>
                <a:latin typeface="Calibri"/>
                <a:ea typeface="Calibri"/>
              </a:rPr>
              <a:t>ESCALA</a:t>
            </a:r>
            <a:endParaRPr b="0" lang="pt-P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868680" y="5440680"/>
            <a:ext cx="3108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Modelos enormes, treino em biliões de palavras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9"/>
          <p:cNvSpPr/>
          <p:nvPr/>
        </p:nvSpPr>
        <p:spPr>
          <a:xfrm>
            <a:off x="4389120" y="5029200"/>
            <a:ext cx="3382560" cy="1005120"/>
          </a:xfrm>
          <a:prstGeom prst="rect">
            <a:avLst/>
          </a:prstGeom>
          <a:solidFill>
            <a:srgbClr val="2d35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10"/>
          <p:cNvSpPr/>
          <p:nvPr/>
        </p:nvSpPr>
        <p:spPr>
          <a:xfrm>
            <a:off x="4389120" y="5029200"/>
            <a:ext cx="90720" cy="1005120"/>
          </a:xfrm>
          <a:prstGeom prst="rect">
            <a:avLst/>
          </a:prstGeom>
          <a:solidFill>
            <a:srgbClr val="f0a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4617720" y="512064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7" strike="noStrike">
                <a:solidFill>
                  <a:srgbClr val="f0a500"/>
                </a:solidFill>
                <a:latin typeface="Calibri"/>
                <a:ea typeface="Calibri"/>
              </a:rPr>
              <a:t>AUTO-SUPERVISÃO</a:t>
            </a:r>
            <a:endParaRPr b="0" lang="pt-P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4617720" y="5440680"/>
            <a:ext cx="3108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Aprender sem rótulos, a partir do próprio texto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13"/>
          <p:cNvSpPr/>
          <p:nvPr/>
        </p:nvSpPr>
        <p:spPr>
          <a:xfrm>
            <a:off x="8138160" y="5029200"/>
            <a:ext cx="3382560" cy="1005120"/>
          </a:xfrm>
          <a:prstGeom prst="rect">
            <a:avLst/>
          </a:prstGeom>
          <a:solidFill>
            <a:srgbClr val="2d35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14"/>
          <p:cNvSpPr/>
          <p:nvPr/>
        </p:nvSpPr>
        <p:spPr>
          <a:xfrm>
            <a:off x="8138160" y="5029200"/>
            <a:ext cx="90720" cy="1005120"/>
          </a:xfrm>
          <a:prstGeom prst="rect">
            <a:avLst/>
          </a:prstGeom>
          <a:solidFill>
            <a:srgbClr val="2ec4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8366760" y="512064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7" strike="noStrike">
                <a:solidFill>
                  <a:srgbClr val="2ec4b6"/>
                </a:solidFill>
                <a:latin typeface="Calibri"/>
                <a:ea typeface="Calibri"/>
              </a:rPr>
              <a:t>GENERALIZAÇÃO</a:t>
            </a:r>
            <a:endParaRPr b="0" lang="pt-P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8366760" y="5440680"/>
            <a:ext cx="3108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Um modelo, muitas tarefas — via prompting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457200" y="64922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SPLN · TP2 · Grupo de Leitura    |    </a:t>
            </a:r>
            <a:r>
              <a:rPr b="0" i="1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Manning (2022)</a:t>
            </a:r>
            <a:endParaRPr b="0" lang="pt-P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11064240" y="649224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3 / 11</a:t>
            </a:r>
            <a:endParaRPr b="0" lang="pt-PT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640080" y="4572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e94560"/>
                </a:solidFill>
                <a:latin typeface="Calibri"/>
                <a:ea typeface="Calibri"/>
              </a:rPr>
              <a:t>§ 03 · HISTÓRIA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640080" y="777240"/>
            <a:ext cx="10972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600" spc="-1" strike="noStrike">
                <a:solidFill>
                  <a:srgbClr val="1a1f36"/>
                </a:solidFill>
                <a:latin typeface="Georgia"/>
                <a:ea typeface="Georgia"/>
              </a:rPr>
              <a:t>As quatro eras do NLP</a:t>
            </a:r>
            <a:endParaRPr b="0" lang="pt-PT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914400" y="3200400"/>
            <a:ext cx="10332720" cy="360"/>
          </a:xfrm>
          <a:prstGeom prst="line">
            <a:avLst/>
          </a:prstGeom>
          <a:ln w="25400">
            <a:solidFill>
              <a:srgbClr val="2d35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1920240" y="3035880"/>
            <a:ext cx="328320" cy="328320"/>
          </a:xfrm>
          <a:prstGeom prst="ellipse">
            <a:avLst/>
          </a:prstGeom>
          <a:solidFill>
            <a:srgbClr val="5a6178"/>
          </a:solidFill>
          <a:ln w="38100">
            <a:solidFill>
              <a:srgbClr val="fafa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914400" y="17830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5a6178"/>
                </a:solidFill>
                <a:latin typeface="Calibri"/>
                <a:ea typeface="Calibri"/>
              </a:rPr>
              <a:t>1950–69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914400" y="2103120"/>
            <a:ext cx="2468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f36"/>
                </a:solidFill>
                <a:latin typeface="Georgia"/>
                <a:ea typeface="Georgia"/>
              </a:rPr>
              <a:t>Tradução automática</a:t>
            </a:r>
            <a:endParaRPr b="0" lang="pt-P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914400" y="3657600"/>
            <a:ext cx="24681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Dicionários + regras morfológicas.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Quase nada se sabia sobre a estrutura da língua.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4663440" y="3035880"/>
            <a:ext cx="328320" cy="328320"/>
          </a:xfrm>
          <a:prstGeom prst="ellipse">
            <a:avLst/>
          </a:prstGeom>
          <a:solidFill>
            <a:srgbClr val="2d3561"/>
          </a:solidFill>
          <a:ln w="38100">
            <a:solidFill>
              <a:srgbClr val="fafa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3657600" y="17830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2d3561"/>
                </a:solidFill>
                <a:latin typeface="Calibri"/>
                <a:ea typeface="Calibri"/>
              </a:rPr>
              <a:t>1970–92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3657600" y="2103120"/>
            <a:ext cx="2468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f36"/>
                </a:solidFill>
                <a:latin typeface="Georgia"/>
                <a:ea typeface="Georgia"/>
              </a:rPr>
              <a:t>Sistemas baseados em regras</a:t>
            </a:r>
            <a:endParaRPr b="0" lang="pt-P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3657600" y="3657600"/>
            <a:ext cx="24681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SHRDLU, LUNAR, SAM, LIFER, GUS.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Tudo feito à mão.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1"/>
          <p:cNvSpPr/>
          <p:nvPr/>
        </p:nvSpPr>
        <p:spPr>
          <a:xfrm>
            <a:off x="7406640" y="3035880"/>
            <a:ext cx="328320" cy="328320"/>
          </a:xfrm>
          <a:prstGeom prst="ellipse">
            <a:avLst/>
          </a:prstGeom>
          <a:solidFill>
            <a:srgbClr val="f0a500"/>
          </a:solidFill>
          <a:ln w="38100">
            <a:solidFill>
              <a:srgbClr val="fafa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6400800" y="17830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f0a500"/>
                </a:solidFill>
                <a:latin typeface="Calibri"/>
                <a:ea typeface="Calibri"/>
              </a:rPr>
              <a:t>1993–2012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6400800" y="2103120"/>
            <a:ext cx="2468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f36"/>
                </a:solidFill>
                <a:latin typeface="Georgia"/>
                <a:ea typeface="Georgia"/>
              </a:rPr>
              <a:t>Viragem empírica</a:t>
            </a:r>
            <a:endParaRPr b="0" lang="pt-P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6400800" y="3657600"/>
            <a:ext cx="24681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ML estatístico sobre corpora.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Treebanks e aprendizagem supervisionada.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5"/>
          <p:cNvSpPr/>
          <p:nvPr/>
        </p:nvSpPr>
        <p:spPr>
          <a:xfrm>
            <a:off x="10149840" y="3035880"/>
            <a:ext cx="328320" cy="328320"/>
          </a:xfrm>
          <a:prstGeom prst="ellipse">
            <a:avLst/>
          </a:prstGeom>
          <a:solidFill>
            <a:srgbClr val="e94560"/>
          </a:solidFill>
          <a:ln w="38100">
            <a:solidFill>
              <a:srgbClr val="fafa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9144000" y="17830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e94560"/>
                </a:solidFill>
                <a:latin typeface="Calibri"/>
                <a:ea typeface="Calibri"/>
              </a:rPr>
              <a:t>2013–...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9144000" y="2103120"/>
            <a:ext cx="24681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1f36"/>
                </a:solidFill>
                <a:latin typeface="Georgia"/>
                <a:ea typeface="Georgia"/>
              </a:rPr>
              <a:t>Deep learning + auto-supervisão</a:t>
            </a:r>
            <a:endParaRPr b="0" lang="pt-P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9144000" y="3657600"/>
            <a:ext cx="24681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Word2Vec → Transformer → BERT/GPT.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A era em que vivemos.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9"/>
          <p:cNvSpPr/>
          <p:nvPr/>
        </p:nvSpPr>
        <p:spPr>
          <a:xfrm>
            <a:off x="640080" y="5669280"/>
            <a:ext cx="10880640" cy="776520"/>
          </a:xfrm>
          <a:prstGeom prst="rect">
            <a:avLst/>
          </a:prstGeom>
          <a:solidFill>
            <a:srgbClr val="e8ec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20"/>
          <p:cNvSpPr/>
          <p:nvPr/>
        </p:nvSpPr>
        <p:spPr>
          <a:xfrm>
            <a:off x="640080" y="5669280"/>
            <a:ext cx="90720" cy="77652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1"/>
          <p:cNvSpPr/>
          <p:nvPr/>
        </p:nvSpPr>
        <p:spPr>
          <a:xfrm>
            <a:off x="914400" y="577908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O argumento de Manning:  </a:t>
            </a: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em retrospetiva, a verdadeira ruptura não foi o deep learning (2013) — foi a </a:t>
            </a:r>
            <a:r>
              <a:rPr b="1" lang="en-US" sz="1300" spc="-1" strike="noStrike">
                <a:solidFill>
                  <a:srgbClr val="e94560"/>
                </a:solidFill>
                <a:latin typeface="Calibri"/>
                <a:ea typeface="Calibri"/>
              </a:rPr>
              <a:t>auto-supervisão em larga escala</a:t>
            </a: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 (a partir de 2018).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22"/>
          <p:cNvSpPr/>
          <p:nvPr/>
        </p:nvSpPr>
        <p:spPr>
          <a:xfrm>
            <a:off x="457200" y="64922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SPLN · TP2 · Grupo de Leitura    |    </a:t>
            </a:r>
            <a:r>
              <a:rPr b="0" i="1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Manning (2022)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3"/>
          <p:cNvSpPr/>
          <p:nvPr/>
        </p:nvSpPr>
        <p:spPr>
          <a:xfrm>
            <a:off x="11064240" y="649224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4 / 11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640080" y="4572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e94560"/>
                </a:solidFill>
                <a:latin typeface="Calibri"/>
                <a:ea typeface="Calibri"/>
              </a:rPr>
              <a:t>§ 04 · MUDANÇA DE PARADIGMA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640080" y="777240"/>
            <a:ext cx="10972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600" spc="-1" strike="noStrike">
                <a:solidFill>
                  <a:srgbClr val="1a1f36"/>
                </a:solidFill>
                <a:latin typeface="Georgia"/>
                <a:ea typeface="Georgia"/>
              </a:rPr>
              <a:t>2018: o ponto de inflexão</a:t>
            </a:r>
            <a:endParaRPr b="0" lang="pt-PT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640080" y="1600200"/>
            <a:ext cx="10972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5a6178"/>
                </a:solidFill>
                <a:latin typeface="Calibri"/>
                <a:ea typeface="Calibri"/>
              </a:rPr>
              <a:t>O que mudou, de facto?</a:t>
            </a:r>
            <a:endParaRPr b="0" lang="pt-PT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640080" y="2194560"/>
            <a:ext cx="5439960" cy="365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868680" y="2377440"/>
            <a:ext cx="5028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6" strike="noStrike">
                <a:solidFill>
                  <a:srgbClr val="5a6178"/>
                </a:solidFill>
                <a:latin typeface="Calibri"/>
                <a:ea typeface="Calibri"/>
              </a:rPr>
              <a:t>ANTES (até 2018)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868680" y="274320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1f36"/>
                </a:solidFill>
                <a:latin typeface="Georgia"/>
                <a:ea typeface="Georgia"/>
              </a:rPr>
              <a:t>Aprendizagem supervisionada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868680" y="3337560"/>
            <a:ext cx="502848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f36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Recursos anotados à mão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f36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Um modelo por tarefa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f36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Pipelines complexas (POS → parse → ...)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1f36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Difícil generalizar entre domínios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5852160" y="3657600"/>
            <a:ext cx="547920" cy="730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8"/>
          <p:cNvSpPr/>
          <p:nvPr/>
        </p:nvSpPr>
        <p:spPr>
          <a:xfrm>
            <a:off x="6492240" y="2194560"/>
            <a:ext cx="5074200" cy="3656880"/>
          </a:xfrm>
          <a:prstGeom prst="rect">
            <a:avLst/>
          </a:prstGeom>
          <a:solidFill>
            <a:srgbClr val="0f1b3d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6720840" y="2377440"/>
            <a:ext cx="4662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6" strike="noStrike">
                <a:solidFill>
                  <a:srgbClr val="f0a500"/>
                </a:solidFill>
                <a:latin typeface="Calibri"/>
                <a:ea typeface="Calibri"/>
              </a:rPr>
              <a:t>DEPOIS (2018 →)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6720840" y="2743200"/>
            <a:ext cx="4662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Georgia"/>
                <a:ea typeface="Georgia"/>
              </a:rPr>
              <a:t>Auto-supervisão massiva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6720840" y="3337560"/>
            <a:ext cx="466272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8ecf7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8ecf7"/>
                </a:solidFill>
                <a:latin typeface="Calibri"/>
                <a:ea typeface="Calibri"/>
              </a:rPr>
              <a:t>Texto cru — biliões de palavras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8ecf7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8ecf7"/>
                </a:solidFill>
                <a:latin typeface="Calibri"/>
                <a:ea typeface="Calibri"/>
              </a:rPr>
              <a:t>Um modelo gigante, muitas tarefas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8ecf7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8ecf7"/>
                </a:solidFill>
                <a:latin typeface="Calibri"/>
                <a:ea typeface="Calibri"/>
              </a:rPr>
              <a:t>Fine-tuning ou prompting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e8ecf7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e8ecf7"/>
                </a:solidFill>
                <a:latin typeface="Calibri"/>
                <a:ea typeface="Calibri"/>
              </a:rPr>
              <a:t>Conhecimento geral emergente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2"/>
          <p:cNvSpPr/>
          <p:nvPr/>
        </p:nvSpPr>
        <p:spPr>
          <a:xfrm>
            <a:off x="640080" y="598932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1f36"/>
                </a:solidFill>
                <a:latin typeface="Calibri"/>
                <a:ea typeface="Calibri"/>
              </a:rPr>
              <a:t>Como funciona a auto-supervisão?  </a:t>
            </a:r>
            <a:r>
              <a:rPr b="0" lang="en-US" sz="1200" spc="-1" strike="noStrike">
                <a:solidFill>
                  <a:srgbClr val="5a6178"/>
                </a:solidFill>
                <a:latin typeface="Calibri"/>
                <a:ea typeface="Calibri"/>
              </a:rPr>
              <a:t>O modelo gera os seus próprios desafios — prever a próxima palavra ou preencher uma palavra mascarada — e aprende com os seus erros, biliões de vezes.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457200" y="64922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SPLN · TP2 · Grupo de Leitura    |    </a:t>
            </a:r>
            <a:r>
              <a:rPr b="0" i="1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Manning (2022)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11064240" y="649224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5 / 11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640080" y="4572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e94560"/>
                </a:solidFill>
                <a:latin typeface="Calibri"/>
                <a:ea typeface="Calibri"/>
              </a:rPr>
              <a:t>§ 05 · COMO FUNCIONA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640080" y="777240"/>
            <a:ext cx="10972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600" spc="-1" strike="noStrike">
                <a:solidFill>
                  <a:srgbClr val="1a1f36"/>
                </a:solidFill>
                <a:latin typeface="Georgia"/>
                <a:ea typeface="Georgia"/>
              </a:rPr>
              <a:t>Transformers &amp; atenção</a:t>
            </a:r>
            <a:endParaRPr b="0" lang="pt-PT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640080" y="160020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5a6178"/>
                </a:solidFill>
                <a:latin typeface="Calibri"/>
                <a:ea typeface="Calibri"/>
              </a:rPr>
              <a:t>Exemplo do artigo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1783080" y="2057400"/>
            <a:ext cx="1736640" cy="639360"/>
          </a:xfrm>
          <a:prstGeom prst="rect">
            <a:avLst/>
          </a:prstGeom>
          <a:solidFill>
            <a:srgbClr val="f0a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1783080" y="2057400"/>
            <a:ext cx="1736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800" spc="-1" strike="noStrike">
                <a:solidFill>
                  <a:srgbClr val="0f1b3d"/>
                </a:solidFill>
                <a:latin typeface="Georgia"/>
                <a:ea typeface="Georgia"/>
              </a:rPr>
              <a:t>committee</a:t>
            </a: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3611880" y="219456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← </a:t>
            </a:r>
            <a:r>
              <a:rPr b="0" i="1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palavra predita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2651760" y="2697480"/>
            <a:ext cx="360" cy="457200"/>
          </a:xfrm>
          <a:prstGeom prst="line">
            <a:avLst/>
          </a:prstGeom>
          <a:ln w="3175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868680" y="3246120"/>
            <a:ext cx="5394240" cy="867960"/>
          </a:xfrm>
          <a:prstGeom prst="roundRect">
            <a:avLst>
              <a:gd name="adj" fmla="val 8421"/>
            </a:avLst>
          </a:prstGeom>
          <a:solidFill>
            <a:srgbClr val="2d35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868680" y="324612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12 × camadas transformer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868680" y="3611880"/>
            <a:ext cx="5394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0a500"/>
                </a:solidFill>
                <a:latin typeface="Calibri"/>
                <a:ea typeface="Calibri"/>
              </a:rPr>
              <a:t>self-attention  +  feed-forward  +  normalização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2651760" y="4160520"/>
            <a:ext cx="360" cy="457200"/>
          </a:xfrm>
          <a:prstGeom prst="line">
            <a:avLst/>
          </a:prstGeom>
          <a:ln w="31750">
            <a:solidFill>
              <a:srgbClr val="e945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868680" y="4709160"/>
            <a:ext cx="959400" cy="502200"/>
          </a:xfrm>
          <a:prstGeom prst="rect">
            <a:avLst/>
          </a:prstGeom>
          <a:solidFill>
            <a:srgbClr val="2d35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868680" y="470916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[CLS]</a:t>
            </a:r>
            <a:endParaRPr b="0" lang="pt-P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3"/>
          <p:cNvSpPr/>
          <p:nvPr/>
        </p:nvSpPr>
        <p:spPr>
          <a:xfrm>
            <a:off x="1947600" y="4709160"/>
            <a:ext cx="959400" cy="502200"/>
          </a:xfrm>
          <a:prstGeom prst="rect">
            <a:avLst/>
          </a:prstGeom>
          <a:solidFill>
            <a:srgbClr val="2d35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1947600" y="470916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Judiciary</a:t>
            </a:r>
            <a:endParaRPr b="0" lang="pt-P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5"/>
          <p:cNvSpPr/>
          <p:nvPr/>
        </p:nvSpPr>
        <p:spPr>
          <a:xfrm>
            <a:off x="3026520" y="4709160"/>
            <a:ext cx="959400" cy="50220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6"/>
          <p:cNvSpPr/>
          <p:nvPr/>
        </p:nvSpPr>
        <p:spPr>
          <a:xfrm>
            <a:off x="3026520" y="470916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[MASK]</a:t>
            </a:r>
            <a:endParaRPr b="0" lang="pt-P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7"/>
          <p:cNvSpPr/>
          <p:nvPr/>
        </p:nvSpPr>
        <p:spPr>
          <a:xfrm>
            <a:off x="4105800" y="4709160"/>
            <a:ext cx="959400" cy="502200"/>
          </a:xfrm>
          <a:prstGeom prst="rect">
            <a:avLst/>
          </a:prstGeom>
          <a:solidFill>
            <a:srgbClr val="2d35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4105800" y="470916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Annual</a:t>
            </a:r>
            <a:endParaRPr b="0" lang="pt-P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5184720" y="4709160"/>
            <a:ext cx="959400" cy="502200"/>
          </a:xfrm>
          <a:prstGeom prst="rect">
            <a:avLst/>
          </a:prstGeom>
          <a:solidFill>
            <a:srgbClr val="2d35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5184720" y="470916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Report</a:t>
            </a:r>
            <a:endParaRPr b="0" lang="pt-P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21"/>
          <p:cNvSpPr/>
          <p:nvPr/>
        </p:nvSpPr>
        <p:spPr>
          <a:xfrm>
            <a:off x="640080" y="5349240"/>
            <a:ext cx="5942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Entrada com palavra mascarada → modelo prevê o que falta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2"/>
          <p:cNvSpPr/>
          <p:nvPr/>
        </p:nvSpPr>
        <p:spPr>
          <a:xfrm>
            <a:off x="6675120" y="1554480"/>
            <a:ext cx="4937040" cy="457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3"/>
          <p:cNvSpPr/>
          <p:nvPr/>
        </p:nvSpPr>
        <p:spPr>
          <a:xfrm>
            <a:off x="6675120" y="1554480"/>
            <a:ext cx="90720" cy="457128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24"/>
          <p:cNvSpPr/>
          <p:nvPr/>
        </p:nvSpPr>
        <p:spPr>
          <a:xfrm>
            <a:off x="6903720" y="173736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800" spc="-1" strike="noStrike">
                <a:solidFill>
                  <a:srgbClr val="1a1f36"/>
                </a:solidFill>
                <a:latin typeface="Georgia"/>
                <a:ea typeface="Georgia"/>
              </a:rPr>
              <a:t>A mecânica essencial</a:t>
            </a: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25"/>
          <p:cNvSpPr/>
          <p:nvPr/>
        </p:nvSpPr>
        <p:spPr>
          <a:xfrm>
            <a:off x="6903720" y="2194560"/>
            <a:ext cx="4571280" cy="38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94560"/>
                </a:solidFill>
                <a:latin typeface="Calibri"/>
                <a:ea typeface="Calibri"/>
              </a:rPr>
              <a:t>Q, K, V</a:t>
            </a: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 — cada palavra calcula uma query, uma key e um value.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b="0" lang="pt-PT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A query é comparada com as keys de todas as outras posições para decidir </a:t>
            </a:r>
            <a:r>
              <a:rPr b="1" i="1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quanto peso dar a cada uma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b="0" lang="pt-PT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Combinação ponderada dos values → nova representação da palavra.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b="0" lang="pt-PT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Repetir em várias camadas. Repetir biliões de vezes em treino.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6"/>
          <p:cNvSpPr/>
          <p:nvPr/>
        </p:nvSpPr>
        <p:spPr>
          <a:xfrm>
            <a:off x="457200" y="64922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SPLN · TP2 · Grupo de Leitura    |    </a:t>
            </a:r>
            <a:r>
              <a:rPr b="0" i="1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Manning (2022)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7"/>
          <p:cNvSpPr/>
          <p:nvPr/>
        </p:nvSpPr>
        <p:spPr>
          <a:xfrm>
            <a:off x="11064240" y="649224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6 / 11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640080" y="4572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e94560"/>
                </a:solidFill>
                <a:latin typeface="Calibri"/>
                <a:ea typeface="Calibri"/>
              </a:rPr>
              <a:t>§ 06 · APLICAÇÕES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640080" y="777240"/>
            <a:ext cx="10972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600" spc="-1" strike="noStrike">
                <a:solidFill>
                  <a:srgbClr val="1a1f36"/>
                </a:solidFill>
                <a:latin typeface="Georgia"/>
                <a:ea typeface="Georgia"/>
              </a:rPr>
              <a:t>Onde isto já está a funcionar</a:t>
            </a:r>
            <a:endParaRPr b="0" lang="pt-PT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2"/>
          <p:cNvSpPr/>
          <p:nvPr/>
        </p:nvSpPr>
        <p:spPr>
          <a:xfrm>
            <a:off x="640080" y="1691640"/>
            <a:ext cx="3656880" cy="457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822960" y="1828800"/>
            <a:ext cx="1370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600" spc="-1" strike="noStrike">
                <a:solidFill>
                  <a:srgbClr val="e94560"/>
                </a:solidFill>
                <a:latin typeface="Georgia"/>
                <a:ea typeface="Georgia"/>
              </a:rPr>
              <a:t>01</a:t>
            </a:r>
            <a:endParaRPr b="0" lang="pt-PT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868680" y="274320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a1f36"/>
                </a:solidFill>
                <a:latin typeface="Georgia"/>
                <a:ea typeface="Georgia"/>
              </a:rPr>
              <a:t>Tradução automática</a:t>
            </a:r>
            <a:endParaRPr b="0" lang="pt-PT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5"/>
          <p:cNvSpPr/>
          <p:nvPr/>
        </p:nvSpPr>
        <p:spPr>
          <a:xfrm>
            <a:off x="868680" y="3429000"/>
            <a:ext cx="1097280" cy="360"/>
          </a:xfrm>
          <a:prstGeom prst="line">
            <a:avLst/>
          </a:prstGeom>
          <a:ln w="254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868680" y="3611880"/>
            <a:ext cx="324540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f36"/>
                </a:solidFill>
                <a:latin typeface="Calibri"/>
                <a:ea typeface="Calibri"/>
              </a:rPr>
              <a:t>Google Translate passou a transformer em 2020 — um único modelo treinado simultaneamente em todas as línguas, com um token a indicar a língua de entrada.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868680" y="5486400"/>
            <a:ext cx="3245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Qualidade próxima do humano em muitos pares.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8"/>
          <p:cNvSpPr/>
          <p:nvPr/>
        </p:nvSpPr>
        <p:spPr>
          <a:xfrm>
            <a:off x="4572000" y="1691640"/>
            <a:ext cx="3656880" cy="457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4754880" y="1828800"/>
            <a:ext cx="1370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600" spc="-1" strike="noStrike">
                <a:solidFill>
                  <a:srgbClr val="e94560"/>
                </a:solidFill>
                <a:latin typeface="Georgia"/>
                <a:ea typeface="Georgia"/>
              </a:rPr>
              <a:t>02</a:t>
            </a:r>
            <a:endParaRPr b="0" lang="pt-PT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4800600" y="274320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a1f36"/>
                </a:solidFill>
                <a:latin typeface="Georgia"/>
                <a:ea typeface="Georgia"/>
              </a:rPr>
              <a:t>Question Answering</a:t>
            </a:r>
            <a:endParaRPr b="0" lang="pt-PT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1"/>
          <p:cNvSpPr/>
          <p:nvPr/>
        </p:nvSpPr>
        <p:spPr>
          <a:xfrm>
            <a:off x="4800600" y="3429000"/>
            <a:ext cx="1097280" cy="360"/>
          </a:xfrm>
          <a:prstGeom prst="line">
            <a:avLst/>
          </a:prstGeom>
          <a:ln w="254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4800600" y="3611880"/>
            <a:ext cx="324540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f36"/>
                </a:solidFill>
                <a:latin typeface="Calibri"/>
                <a:ea typeface="Calibri"/>
              </a:rPr>
              <a:t>UnifiedQA: um único modelo lida com vários formatos de pergunta (extractivo, abstractivo, múltipla escolha) — sem treino específico para cada um.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4800600" y="5486400"/>
            <a:ext cx="3245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4"/>
          <p:cNvSpPr/>
          <p:nvPr/>
        </p:nvSpPr>
        <p:spPr>
          <a:xfrm>
            <a:off x="8503920" y="1691640"/>
            <a:ext cx="3656880" cy="4571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5"/>
          <p:cNvSpPr/>
          <p:nvPr/>
        </p:nvSpPr>
        <p:spPr>
          <a:xfrm>
            <a:off x="8686800" y="1828800"/>
            <a:ext cx="1370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600" spc="-1" strike="noStrike">
                <a:solidFill>
                  <a:srgbClr val="e94560"/>
                </a:solidFill>
                <a:latin typeface="Georgia"/>
                <a:ea typeface="Georgia"/>
              </a:rPr>
              <a:t>03</a:t>
            </a:r>
            <a:endParaRPr b="0" lang="pt-PT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6"/>
          <p:cNvSpPr/>
          <p:nvPr/>
        </p:nvSpPr>
        <p:spPr>
          <a:xfrm>
            <a:off x="8732520" y="274320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a1f36"/>
                </a:solidFill>
                <a:latin typeface="Georgia"/>
                <a:ea typeface="Georgia"/>
              </a:rPr>
              <a:t>Sumarização clínica</a:t>
            </a:r>
            <a:endParaRPr b="0" lang="pt-PT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7"/>
          <p:cNvSpPr/>
          <p:nvPr/>
        </p:nvSpPr>
        <p:spPr>
          <a:xfrm>
            <a:off x="8732520" y="3429000"/>
            <a:ext cx="1097280" cy="360"/>
          </a:xfrm>
          <a:prstGeom prst="line">
            <a:avLst/>
          </a:prstGeom>
          <a:ln w="254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8"/>
          <p:cNvSpPr/>
          <p:nvPr/>
        </p:nvSpPr>
        <p:spPr>
          <a:xfrm>
            <a:off x="8732520" y="3611880"/>
            <a:ext cx="324540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f36"/>
                </a:solidFill>
                <a:latin typeface="Calibri"/>
                <a:ea typeface="Calibri"/>
              </a:rPr>
              <a:t>Gerar a 'impressão' de um relatório de radiologia a partir das observações detalhadas — com foco em correcção factual, não só fluência.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9"/>
          <p:cNvSpPr/>
          <p:nvPr/>
        </p:nvSpPr>
        <p:spPr>
          <a:xfrm>
            <a:off x="8732520" y="5486400"/>
            <a:ext cx="3245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6178"/>
                </a:solidFill>
                <a:latin typeface="Calibri"/>
                <a:ea typeface="Calibri"/>
              </a:rPr>
              <a:t>Domínios de alto risco já estão a ser tocados.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0"/>
          <p:cNvSpPr/>
          <p:nvPr/>
        </p:nvSpPr>
        <p:spPr>
          <a:xfrm>
            <a:off x="457200" y="64922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SPLN · TP2 · Grupo de Leitura    |    </a:t>
            </a:r>
            <a:r>
              <a:rPr b="0" i="1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Manning (2022)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21"/>
          <p:cNvSpPr/>
          <p:nvPr/>
        </p:nvSpPr>
        <p:spPr>
          <a:xfrm>
            <a:off x="11064240" y="649224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7 / 11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640080" y="4572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f0a500"/>
                </a:solidFill>
                <a:latin typeface="Calibri"/>
                <a:ea typeface="Calibri"/>
              </a:rPr>
              <a:t>§ 07 · O CONCEITO</a:t>
            </a:r>
            <a:endParaRPr b="0" lang="pt-P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640080" y="777240"/>
            <a:ext cx="10972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600" spc="-1" strike="noStrike">
                <a:solidFill>
                  <a:srgbClr val="ffffff"/>
                </a:solidFill>
                <a:latin typeface="Georgia"/>
                <a:ea typeface="Georgia"/>
              </a:rPr>
              <a:t>Foundation models</a:t>
            </a:r>
            <a:endParaRPr b="0" lang="pt-PT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2"/>
          <p:cNvSpPr/>
          <p:nvPr/>
        </p:nvSpPr>
        <p:spPr>
          <a:xfrm>
            <a:off x="640080" y="1737360"/>
            <a:ext cx="10880640" cy="1462320"/>
          </a:xfrm>
          <a:prstGeom prst="rect">
            <a:avLst/>
          </a:prstGeom>
          <a:solidFill>
            <a:srgbClr val="2d35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640080" y="1737360"/>
            <a:ext cx="90720" cy="146232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914400" y="187452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f0a500"/>
                </a:solidFill>
                <a:latin typeface="Calibri"/>
                <a:ea typeface="Calibri"/>
              </a:rPr>
              <a:t>Definição (proposta por Bommasani et al., 2021)</a:t>
            </a:r>
            <a:endParaRPr b="0" lang="pt-P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914400" y="2194560"/>
            <a:ext cx="104234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ffffff"/>
                </a:solidFill>
                <a:latin typeface="Georgia"/>
                <a:ea typeface="Georgia"/>
              </a:rPr>
              <a:t>Modelos com milhões de parâmetros, treinados em enormes quantidades de dados via auto-supervisão, que podem ser facilmente adaptados a uma vasta gama de tarefas downstream.</a:t>
            </a:r>
            <a:endParaRPr b="0" lang="pt-P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6"/>
          <p:cNvSpPr/>
          <p:nvPr/>
        </p:nvSpPr>
        <p:spPr>
          <a:xfrm>
            <a:off x="640080" y="347472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7" strike="noStrike">
                <a:solidFill>
                  <a:srgbClr val="f0a500"/>
                </a:solidFill>
                <a:latin typeface="Calibri"/>
                <a:ea typeface="Calibri"/>
              </a:rPr>
              <a:t>Três frentes de expansão</a:t>
            </a: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640080" y="3931920"/>
            <a:ext cx="3565440" cy="2102400"/>
          </a:xfrm>
          <a:prstGeom prst="rect">
            <a:avLst/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640080" y="3931920"/>
            <a:ext cx="3565440" cy="90720"/>
          </a:xfrm>
          <a:prstGeom prst="rect">
            <a:avLst/>
          </a:prstGeom>
          <a:solidFill>
            <a:srgbClr val="f0a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868680" y="416052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f1b3d"/>
                </a:solidFill>
                <a:latin typeface="Georgia"/>
                <a:ea typeface="Georgia"/>
              </a:rPr>
              <a:t>Linguagem</a:t>
            </a:r>
            <a:endParaRPr b="0" lang="pt-PT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868680" y="4663440"/>
            <a:ext cx="31996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BERT, GPT-3 e descendentes — a base já estabelecida.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4480560" y="3931920"/>
            <a:ext cx="3565440" cy="2102400"/>
          </a:xfrm>
          <a:prstGeom prst="rect">
            <a:avLst/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4480560" y="3931920"/>
            <a:ext cx="3565440" cy="90720"/>
          </a:xfrm>
          <a:prstGeom prst="rect">
            <a:avLst/>
          </a:prstGeom>
          <a:solidFill>
            <a:srgbClr val="f0a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4709160" y="416052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f1b3d"/>
                </a:solidFill>
                <a:latin typeface="Georgia"/>
                <a:ea typeface="Georgia"/>
              </a:rPr>
              <a:t>Multimodal</a:t>
            </a:r>
            <a:endParaRPr b="0" lang="pt-PT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4709160" y="4663440"/>
            <a:ext cx="31996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DALL·E e afins — texto + imagem aprendidos em conjunto.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15"/>
          <p:cNvSpPr/>
          <p:nvPr/>
        </p:nvSpPr>
        <p:spPr>
          <a:xfrm>
            <a:off x="8321040" y="3931920"/>
            <a:ext cx="3565440" cy="2102400"/>
          </a:xfrm>
          <a:prstGeom prst="rect">
            <a:avLst/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6"/>
          <p:cNvSpPr/>
          <p:nvPr/>
        </p:nvSpPr>
        <p:spPr>
          <a:xfrm>
            <a:off x="8321040" y="3931920"/>
            <a:ext cx="3565440" cy="90720"/>
          </a:xfrm>
          <a:prstGeom prst="rect">
            <a:avLst/>
          </a:prstGeom>
          <a:solidFill>
            <a:srgbClr val="f0a5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7"/>
          <p:cNvSpPr/>
          <p:nvPr/>
        </p:nvSpPr>
        <p:spPr>
          <a:xfrm>
            <a:off x="8549640" y="416052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f1b3d"/>
                </a:solidFill>
                <a:latin typeface="Georgia"/>
                <a:ea typeface="Georgia"/>
              </a:rPr>
              <a:t>Outros domínios</a:t>
            </a:r>
            <a:endParaRPr b="0" lang="pt-PT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8"/>
          <p:cNvSpPr/>
          <p:nvPr/>
        </p:nvSpPr>
        <p:spPr>
          <a:xfrm>
            <a:off x="8549640" y="4663440"/>
            <a:ext cx="31996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Visão, robótica, bioinformática, knowledge graphs.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19"/>
          <p:cNvSpPr/>
          <p:nvPr/>
        </p:nvSpPr>
        <p:spPr>
          <a:xfrm>
            <a:off x="457200" y="64922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SPLN · TP2 · Grupo de Leitura    |    </a:t>
            </a:r>
            <a:r>
              <a:rPr b="0" i="1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Manning (2022)</a:t>
            </a:r>
            <a:endParaRPr b="0" lang="pt-P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20"/>
          <p:cNvSpPr/>
          <p:nvPr/>
        </p:nvSpPr>
        <p:spPr>
          <a:xfrm>
            <a:off x="11064240" y="649224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8 / 11</a:t>
            </a:r>
            <a:endParaRPr b="0" lang="pt-PT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640080" y="4572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e94560"/>
                </a:solidFill>
                <a:latin typeface="Calibri"/>
                <a:ea typeface="Calibri"/>
              </a:rPr>
              <a:t>§ 08 · O DEBATE FILOSÓFICO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640080" y="777240"/>
            <a:ext cx="10972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600" spc="-1" strike="noStrike">
                <a:solidFill>
                  <a:srgbClr val="1a1f36"/>
                </a:solidFill>
                <a:latin typeface="Georgia"/>
                <a:ea typeface="Georgia"/>
              </a:rPr>
              <a:t>Mas... entendem mesmo?</a:t>
            </a:r>
            <a:endParaRPr b="0" lang="pt-PT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640080" y="16002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a6178"/>
                </a:solidFill>
                <a:latin typeface="Calibri"/>
                <a:ea typeface="Calibri"/>
              </a:rPr>
              <a:t>Duas visões opostas sobre o significado nos modelos de linguagem.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640080" y="2194560"/>
            <a:ext cx="5439960" cy="393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868680" y="2377440"/>
            <a:ext cx="5028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6" strike="noStrike">
                <a:solidFill>
                  <a:srgbClr val="5a6178"/>
                </a:solidFill>
                <a:latin typeface="Calibri"/>
                <a:ea typeface="Calibri"/>
              </a:rPr>
              <a:t>CÉPTICOS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868680" y="274320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000" spc="-1" strike="noStrike">
                <a:solidFill>
                  <a:srgbClr val="1a1f36"/>
                </a:solidFill>
                <a:latin typeface="Georgia"/>
                <a:ea typeface="Georgia"/>
              </a:rPr>
              <a:t>Bender &amp; Koller (2020)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868680" y="3246120"/>
            <a:ext cx="5028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e94560"/>
                </a:solidFill>
                <a:latin typeface="Calibri"/>
                <a:ea typeface="Calibri"/>
              </a:rPr>
              <a:t>Semântica denotacional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868680" y="3611880"/>
            <a:ext cx="5028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f36"/>
                </a:solidFill>
                <a:latin typeface="Calibri"/>
                <a:ea typeface="Calibri"/>
              </a:rPr>
              <a:t>O significado é a referência ao mundo — objectos, situações, factos.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868680" y="4297680"/>
            <a:ext cx="50284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a6178"/>
                </a:solidFill>
                <a:latin typeface="Georgia"/>
                <a:ea typeface="Georgia"/>
              </a:rPr>
              <a:t>“</a:t>
            </a:r>
            <a:r>
              <a:rPr b="0" i="1" lang="en-US" sz="1300" spc="-1" strike="noStrike">
                <a:solidFill>
                  <a:srgbClr val="5a6178"/>
                </a:solidFill>
                <a:latin typeface="Georgia"/>
                <a:ea typeface="Georgia"/>
              </a:rPr>
              <a:t>Os modelos só vêem texto. Sem ligação a referentes externos, não há verdadeira compreensão — só padrões distribucionais.”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6263640" y="2194560"/>
            <a:ext cx="5302800" cy="3931200"/>
          </a:xfrm>
          <a:prstGeom prst="rect">
            <a:avLst/>
          </a:prstGeom>
          <a:solidFill>
            <a:srgbClr val="0f1b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6492240" y="237744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6" strike="noStrike">
                <a:solidFill>
                  <a:srgbClr val="f0a500"/>
                </a:solidFill>
                <a:latin typeface="Calibri"/>
                <a:ea typeface="Calibri"/>
              </a:rPr>
              <a:t>MANNING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6492240" y="2743200"/>
            <a:ext cx="4937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000" spc="-1" strike="noStrike">
                <a:solidFill>
                  <a:srgbClr val="ffffff"/>
                </a:solidFill>
                <a:latin typeface="Georgia"/>
                <a:ea typeface="Georgia"/>
              </a:rPr>
              <a:t>Significado como rede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6492240" y="3246120"/>
            <a:ext cx="4937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4" strike="noStrike">
                <a:solidFill>
                  <a:srgbClr val="f0a500"/>
                </a:solidFill>
                <a:latin typeface="Calibri"/>
                <a:ea typeface="Calibri"/>
              </a:rPr>
              <a:t>Semântica relacional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6492240" y="3611880"/>
            <a:ext cx="493704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ecf7"/>
                </a:solidFill>
                <a:latin typeface="Calibri"/>
                <a:ea typeface="Calibri"/>
              </a:rPr>
              <a:t>O significado emerge da rede densa de conexões — entre palavras, entre palavras e objectos, entre palavras e outros usos.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6492240" y="4526280"/>
            <a:ext cx="493704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e8ecf7"/>
                </a:solidFill>
                <a:latin typeface="Georgia"/>
                <a:ea typeface="Georgia"/>
              </a:rPr>
              <a:t>“</a:t>
            </a:r>
            <a:r>
              <a:rPr b="0" i="1" lang="en-US" sz="1300" spc="-1" strike="noStrike">
                <a:solidFill>
                  <a:srgbClr val="e8ecf7"/>
                </a:solidFill>
                <a:latin typeface="Georgia"/>
                <a:ea typeface="Georgia"/>
              </a:rPr>
              <a:t>O significado não é tudo-ou-nada. Se um modelo tem uma rede rica de conexões, então tem alguma compreensão real — incompleta, mas genuína.”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457200" y="64922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SPLN · TP2 · Grupo de Leitura    |    </a:t>
            </a:r>
            <a:r>
              <a:rPr b="0" i="1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Manning (2022)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11064240" y="649224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9 / 11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640080" y="4572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e94560"/>
                </a:solidFill>
                <a:latin typeface="Calibri"/>
                <a:ea typeface="Calibri"/>
              </a:rPr>
              <a:t>§ 09 · O OUTRO LADO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640080" y="777240"/>
            <a:ext cx="10972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600" spc="-1" strike="noStrike">
                <a:solidFill>
                  <a:srgbClr val="1a1f36"/>
                </a:solidFill>
                <a:latin typeface="Georgia"/>
                <a:ea typeface="Georgia"/>
              </a:rPr>
              <a:t>Limitações e riscos</a:t>
            </a:r>
            <a:endParaRPr b="0" lang="pt-PT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640080" y="160020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a6178"/>
                </a:solidFill>
                <a:latin typeface="Calibri"/>
                <a:ea typeface="Calibri"/>
              </a:rPr>
              <a:t>Manning não é evangelizador — fecha o ensaio com cautelas claras.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640080" y="2194560"/>
            <a:ext cx="5439960" cy="182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640080" y="2194560"/>
            <a:ext cx="72360" cy="182808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914400" y="237744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a1f36"/>
                </a:solidFill>
                <a:latin typeface="Georgia"/>
                <a:ea typeface="Georgia"/>
              </a:rPr>
              <a:t>Concentração de poder</a:t>
            </a: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914400" y="2880360"/>
            <a:ext cx="50284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f36"/>
                </a:solidFill>
                <a:latin typeface="Calibri"/>
                <a:ea typeface="Calibri"/>
              </a:rPr>
              <a:t>Só algumas organizações têm recursos para treinar foundation models — influência desproporcional sobre quem fica dependente.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7"/>
          <p:cNvSpPr/>
          <p:nvPr/>
        </p:nvSpPr>
        <p:spPr>
          <a:xfrm>
            <a:off x="6263640" y="2194560"/>
            <a:ext cx="5439960" cy="182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6263640" y="2194560"/>
            <a:ext cx="72360" cy="182808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6537960" y="237744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a1f36"/>
                </a:solidFill>
                <a:latin typeface="Georgia"/>
                <a:ea typeface="Georgia"/>
              </a:rPr>
              <a:t>Biases herdados</a:t>
            </a: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6537960" y="2880360"/>
            <a:ext cx="50284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f36"/>
                </a:solidFill>
                <a:latin typeface="Calibri"/>
                <a:ea typeface="Calibri"/>
              </a:rPr>
              <a:t>Quem usa, herda os preconceitos do corpus de treino. Difícil auditar quando os dados são tão volumosos.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1"/>
          <p:cNvSpPr/>
          <p:nvPr/>
        </p:nvSpPr>
        <p:spPr>
          <a:xfrm>
            <a:off x="640080" y="4206240"/>
            <a:ext cx="5439960" cy="182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640080" y="4206240"/>
            <a:ext cx="72360" cy="182808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3"/>
          <p:cNvSpPr/>
          <p:nvPr/>
        </p:nvSpPr>
        <p:spPr>
          <a:xfrm>
            <a:off x="914400" y="438912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a1f36"/>
                </a:solidFill>
                <a:latin typeface="Georgia"/>
                <a:ea typeface="Georgia"/>
              </a:rPr>
              <a:t>Segurança opaca</a:t>
            </a: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4"/>
          <p:cNvSpPr/>
          <p:nvPr/>
        </p:nvSpPr>
        <p:spPr>
          <a:xfrm>
            <a:off x="914400" y="4892040"/>
            <a:ext cx="50284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f36"/>
                </a:solidFill>
                <a:latin typeface="Calibri"/>
                <a:ea typeface="Calibri"/>
              </a:rPr>
              <a:t>Não se consegue saber facilmente se um modelo é seguro num contexto específico — os modelos são demasiado grandes para serem inspeccionados.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5"/>
          <p:cNvSpPr/>
          <p:nvPr/>
        </p:nvSpPr>
        <p:spPr>
          <a:xfrm>
            <a:off x="6263640" y="4206240"/>
            <a:ext cx="5439960" cy="182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6"/>
          <p:cNvSpPr/>
          <p:nvPr/>
        </p:nvSpPr>
        <p:spPr>
          <a:xfrm>
            <a:off x="6263640" y="4206240"/>
            <a:ext cx="72360" cy="1828080"/>
          </a:xfrm>
          <a:prstGeom prst="rect">
            <a:avLst/>
          </a:prstGeom>
          <a:solidFill>
            <a:srgbClr val="e945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7"/>
          <p:cNvSpPr/>
          <p:nvPr/>
        </p:nvSpPr>
        <p:spPr>
          <a:xfrm>
            <a:off x="6537960" y="438912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a1f36"/>
                </a:solidFill>
                <a:latin typeface="Georgia"/>
                <a:ea typeface="Georgia"/>
              </a:rPr>
              <a:t>Raciocínio limitado</a:t>
            </a: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8"/>
          <p:cNvSpPr/>
          <p:nvPr/>
        </p:nvSpPr>
        <p:spPr>
          <a:xfrm>
            <a:off x="6537960" y="4892040"/>
            <a:ext cx="50284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1f36"/>
                </a:solidFill>
                <a:latin typeface="Calibri"/>
                <a:ea typeface="Calibri"/>
              </a:rPr>
              <a:t>Mesmo os melhores modelos ainda carecem da capacidade humana de raciocínio lógico e causal cuidadoso.</a:t>
            </a:r>
            <a:endParaRPr b="0" lang="pt-P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9"/>
          <p:cNvSpPr/>
          <p:nvPr/>
        </p:nvSpPr>
        <p:spPr>
          <a:xfrm>
            <a:off x="457200" y="64922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SPLN · TP2 · Grupo de Leitura    |    </a:t>
            </a:r>
            <a:r>
              <a:rPr b="0" i="1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Manning (2022)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20"/>
          <p:cNvSpPr/>
          <p:nvPr/>
        </p:nvSpPr>
        <p:spPr>
          <a:xfrm>
            <a:off x="11064240" y="6492240"/>
            <a:ext cx="639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178"/>
                </a:solidFill>
                <a:latin typeface="Calibri"/>
                <a:ea typeface="Calibri"/>
              </a:rPr>
              <a:t>10 / 11</a:t>
            </a:r>
            <a:endParaRPr b="0" lang="pt-PT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640080" y="4572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6" strike="noStrike">
                <a:solidFill>
                  <a:srgbClr val="f0a500"/>
                </a:solidFill>
                <a:latin typeface="Calibri"/>
                <a:ea typeface="Calibri"/>
              </a:rPr>
              <a:t>§ 10 · TAKEAWAYS</a:t>
            </a:r>
            <a:endParaRPr b="0" lang="pt-P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640080" y="777240"/>
            <a:ext cx="10972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600" spc="-1" strike="noStrike">
                <a:solidFill>
                  <a:srgbClr val="ffffff"/>
                </a:solidFill>
                <a:latin typeface="Georgia"/>
                <a:ea typeface="Georgia"/>
              </a:rPr>
              <a:t>Em três frases</a:t>
            </a:r>
            <a:endParaRPr b="0" lang="pt-PT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2"/>
          <p:cNvSpPr/>
          <p:nvPr/>
        </p:nvSpPr>
        <p:spPr>
          <a:xfrm>
            <a:off x="640080" y="1783080"/>
            <a:ext cx="10965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4400" spc="-1" strike="noStrike">
                <a:solidFill>
                  <a:srgbClr val="e94560"/>
                </a:solidFill>
                <a:latin typeface="Georgia"/>
                <a:ea typeface="Georgia"/>
              </a:rPr>
              <a:t>01</a:t>
            </a:r>
            <a:endParaRPr b="0" lang="pt-PT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1783080" y="182880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A história do NLP teve quatro eras — e a quarta ainda está a começar.</a:t>
            </a: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1783080" y="2423160"/>
            <a:ext cx="9600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ecf7"/>
                </a:solidFill>
                <a:latin typeface="Calibri"/>
                <a:ea typeface="Calibri"/>
              </a:rPr>
              <a:t>A verdadeira ruptura foi a auto-supervisão massiva (2018), não o deep learning em si.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5"/>
          <p:cNvSpPr/>
          <p:nvPr/>
        </p:nvSpPr>
        <p:spPr>
          <a:xfrm>
            <a:off x="640080" y="3108960"/>
            <a:ext cx="10965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4400" spc="-1" strike="noStrike">
                <a:solidFill>
                  <a:srgbClr val="e94560"/>
                </a:solidFill>
                <a:latin typeface="Georgia"/>
                <a:ea typeface="Georgia"/>
              </a:rPr>
              <a:t>02</a:t>
            </a:r>
            <a:endParaRPr b="0" lang="pt-PT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1783080" y="315468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Foundation models são a forma como teremos os primeiros vislumbres de IA mais geral.</a:t>
            </a: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1783080" y="3749040"/>
            <a:ext cx="9600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ecf7"/>
                </a:solidFill>
                <a:latin typeface="Calibri"/>
                <a:ea typeface="Calibri"/>
              </a:rPr>
              <a:t>Um modelo, treinado uma vez, adaptado a inúmeras tarefas — inclusive multimodais.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640080" y="4434840"/>
            <a:ext cx="10965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4400" spc="-1" strike="noStrike">
                <a:solidFill>
                  <a:srgbClr val="e94560"/>
                </a:solidFill>
                <a:latin typeface="Georgia"/>
                <a:ea typeface="Georgia"/>
              </a:rPr>
              <a:t>03</a:t>
            </a:r>
            <a:endParaRPr b="0" lang="pt-PT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1783080" y="448056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Mas "compreensão" continua a ser um conceito disputado — e o raciocínio é o calcanhar de Aquiles.</a:t>
            </a: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1783080" y="5074920"/>
            <a:ext cx="9600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ecf7"/>
                </a:solidFill>
                <a:latin typeface="Calibri"/>
                <a:ea typeface="Calibri"/>
              </a:rPr>
              <a:t>Os modelos sabem muito; ainda raciocinam pouco. E os riscos sociais são reais.</a:t>
            </a:r>
            <a:endParaRPr b="0" lang="pt-P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11"/>
          <p:cNvSpPr/>
          <p:nvPr/>
        </p:nvSpPr>
        <p:spPr>
          <a:xfrm>
            <a:off x="640080" y="6172200"/>
            <a:ext cx="10881360" cy="360"/>
          </a:xfrm>
          <a:prstGeom prst="line">
            <a:avLst/>
          </a:prstGeom>
          <a:ln w="12700">
            <a:solidFill>
              <a:srgbClr val="f0a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640080" y="6309360"/>
            <a:ext cx="10880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f0a500"/>
                </a:solidFill>
                <a:latin typeface="Georgia"/>
                <a:ea typeface="Georgia"/>
              </a:rPr>
              <a:t>Obrigad0</a:t>
            </a: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2026-05-15T16:26:32Z</dcterms:created>
  <dc:creator>Susana</dc:creator>
  <dc:description/>
  <dc:language>pt-PT</dc:language>
  <cp:lastModifiedBy/>
  <dcterms:modified xsi:type="dcterms:W3CDTF">2026-05-19T11:10:48Z</dcterms:modified>
  <cp:revision>3</cp:revision>
  <dc:subject>PptxGenJS Presentation</dc:subject>
  <dc:title>Human Language Understanding &amp; Reasoning — Manning (2022)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